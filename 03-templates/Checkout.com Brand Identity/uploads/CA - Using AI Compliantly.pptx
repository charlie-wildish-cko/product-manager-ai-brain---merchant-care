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8229600" cx="14630400"/>
  <p:notesSz cx="8229600" cy="146304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fdd41df17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cfdd41df17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fdd41df17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a83655b2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a83655b24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1" name="Google Shape;231;g3ea83655b24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a83655b24_0_10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a83655b24_0_10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2" name="Google Shape;262;g3ea83655b24_0_10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a83655b24_0_3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ea83655b24_0_3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Primary Use: No-code workflow automation.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Connect disparate risk systems seamlessly. Use Zapier to instantly route low-risk automated alerts to the appropriate regional compliance officer, create automated tracking tickets, and ensure no flagged transaction falls through the cracks.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0" name="Google Shape;290;g3ea83655b24_0_3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a83655b24_0_9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a83655b24_0_9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8" name="Google Shape;318;g3ea83655b24_0_9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a83655b24_0_9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ea83655b24_0_9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0" name="Google Shape;350;g3ea83655b24_0_9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a83655b24_0_9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ea83655b24_0_9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0" name="Google Shape;380;g3ea83655b24_0_9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a83655b24_0_10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ea83655b24_0_10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6" name="Google Shape;406;g3ea83655b24_0_10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a83655b24_0_78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ea83655b24_0_78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3" name="Google Shape;433;g3ea83655b24_0_78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a83655b24_0_10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ea83655b24_0_10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2" name="Google Shape;472;g3ea83655b24_0_10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body without Arrow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8" name="Google Shape;18;p3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9" name="Google Shape;19;p3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body with Arrow">
  <p:cSld name="TITLE_AND_BODY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1" name="Google Shape;31;p4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2" name="Google Shape;32;p4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oogle Shape;33;p4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34" name="Google Shape;34;p4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ox and body without Arrow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953520" y="383600"/>
            <a:ext cx="4751100" cy="520200"/>
          </a:xfrm>
          <a:prstGeom prst="rect">
            <a:avLst/>
          </a:prstGeom>
          <a:ln cap="flat" cmpd="sng" w="304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8" name="Google Shape;48;p5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49" name="Google Shape;49;p5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ox and body with Arrow">
  <p:cSld name="TITLE_AND_BODY_1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953520" y="383600"/>
            <a:ext cx="4751100" cy="520200"/>
          </a:xfrm>
          <a:prstGeom prst="rect">
            <a:avLst/>
          </a:prstGeom>
          <a:ln cap="flat" cmpd="sng" w="304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64" name="Google Shape;64;p6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65" name="Google Shape;65;p6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eader and body with Arrow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8" name="Google Shape;78;p7"/>
          <p:cNvSpPr txBox="1"/>
          <p:nvPr>
            <p:ph type="title"/>
          </p:nvPr>
        </p:nvSpPr>
        <p:spPr>
          <a:xfrm>
            <a:off x="94600" y="383600"/>
            <a:ext cx="7935300" cy="520200"/>
          </a:xfrm>
          <a:prstGeom prst="rect">
            <a:avLst/>
          </a:prstGeom>
          <a:solidFill>
            <a:srgbClr val="77747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79" name="Google Shape;79;p7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80" name="Google Shape;80;p7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eader and body without Arrow">
  <p:cSld name="TITLE_AND_BODY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3" name="Google Shape;93;p8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94" name="Google Shape;94;p8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95" name="Google Shape;95;p8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5" name="Google Shape;105;p8"/>
          <p:cNvSpPr txBox="1"/>
          <p:nvPr>
            <p:ph type="title"/>
          </p:nvPr>
        </p:nvSpPr>
        <p:spPr>
          <a:xfrm>
            <a:off x="94600" y="383600"/>
            <a:ext cx="7935300" cy="520200"/>
          </a:xfrm>
          <a:prstGeom prst="rect">
            <a:avLst/>
          </a:prstGeom>
          <a:solidFill>
            <a:srgbClr val="77747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out Arrow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Arrow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Fullscreen - Title only">
  <p:cSld name="Title 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671674" y="681400"/>
            <a:ext cx="7417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9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19" name="Google Shape;119;p14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body without Arrow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2" name="Google Shape;122;p15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body with Arrow">
  <p:cSld name="TITLE_AND_BODY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7" name="Google Shape;137;p16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39" name="Google Shape;139;p16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ox and body without Arrow">
  <p:cSld name="TITLE_AND_BODY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953520" y="383600"/>
            <a:ext cx="4751100" cy="520200"/>
          </a:xfrm>
          <a:prstGeom prst="rect">
            <a:avLst/>
          </a:prstGeom>
          <a:ln cap="flat" cmpd="sng" w="304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52" name="Google Shape;152;p17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54" name="Google Shape;154;p17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ox and body with Arrow">
  <p:cSld name="TITLE_AND_BODY_1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>
            <p:ph type="title"/>
          </p:nvPr>
        </p:nvSpPr>
        <p:spPr>
          <a:xfrm>
            <a:off x="953520" y="383600"/>
            <a:ext cx="4751100" cy="520200"/>
          </a:xfrm>
          <a:prstGeom prst="rect">
            <a:avLst/>
          </a:prstGeom>
          <a:ln cap="flat" cmpd="sng" w="304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68" name="Google Shape;168;p18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69" name="Google Shape;169;p18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70" name="Google Shape;170;p18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eader and body with Arrow">
  <p:cSld name="TITLE_AND_BODY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82" name="Google Shape;182;p19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94600" y="383600"/>
            <a:ext cx="7935300" cy="520200"/>
          </a:xfrm>
          <a:prstGeom prst="rect">
            <a:avLst/>
          </a:prstGeom>
          <a:solidFill>
            <a:srgbClr val="77747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84" name="Google Shape;184;p19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185" name="Google Shape;185;p19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eader and body without Arrow">
  <p:cSld name="TITLE_AND_BODY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98" name="Google Shape;198;p20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99" name="Google Shape;199;p20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0" name="Google Shape;210;p20"/>
          <p:cNvSpPr txBox="1"/>
          <p:nvPr>
            <p:ph type="title"/>
          </p:nvPr>
        </p:nvSpPr>
        <p:spPr>
          <a:xfrm>
            <a:off x="94600" y="383600"/>
            <a:ext cx="7935300" cy="520200"/>
          </a:xfrm>
          <a:prstGeom prst="rect">
            <a:avLst/>
          </a:prstGeom>
          <a:solidFill>
            <a:srgbClr val="77747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out Arrow" type="blank">
  <p:cSld name="BLANK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Arrow">
  <p:cSld name="BLANK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8778764" y="0"/>
            <a:ext cx="5524800" cy="8229600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183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5550" lIns="175550" spcFirstLastPara="1" rIns="175550" wrap="square" tIns="17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Fullscreen - Title only">
  <p:cSld name="Title onl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671674" y="681400"/>
            <a:ext cx="7417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9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ox and body with Arrow">
  <p:cSld name="Title box and body with Arrow (g3a8c7ebee21_16_0)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953520" y="383600"/>
            <a:ext cx="4751100" cy="520200"/>
          </a:xfrm>
          <a:prstGeom prst="rect">
            <a:avLst/>
          </a:prstGeom>
          <a:ln cap="flat" cmpd="sng" w="304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1408400" y="1843960"/>
            <a:ext cx="127233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900"/>
              <a:buChar char="●"/>
              <a:defRPr sz="2900">
                <a:solidFill>
                  <a:srgbClr val="31323D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●"/>
              <a:defRPr sz="2200">
                <a:solidFill>
                  <a:srgbClr val="31323D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●"/>
              <a:defRPr sz="2200">
                <a:solidFill>
                  <a:srgbClr val="31323D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F2F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4500"/>
              <a:buNone/>
              <a:defRPr sz="4500">
                <a:solidFill>
                  <a:srgbClr val="31323D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900"/>
              <a:buChar char="●"/>
              <a:defRPr sz="2900">
                <a:solidFill>
                  <a:srgbClr val="31323D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●"/>
              <a:defRPr sz="2200">
                <a:solidFill>
                  <a:srgbClr val="31323D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●"/>
              <a:defRPr sz="2200">
                <a:solidFill>
                  <a:srgbClr val="31323D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○"/>
              <a:defRPr sz="2200">
                <a:solidFill>
                  <a:srgbClr val="31323D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23D"/>
              </a:buClr>
              <a:buSzPts val="2200"/>
              <a:buChar char="■"/>
              <a:defRPr sz="2200">
                <a:solidFill>
                  <a:srgbClr val="31323D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>
            <p:ph idx="1" type="body"/>
          </p:nvPr>
        </p:nvSpPr>
        <p:spPr>
          <a:xfrm>
            <a:off x="1418250" y="527235"/>
            <a:ext cx="12723300" cy="5466300"/>
          </a:xfrm>
          <a:prstGeom prst="roundRect">
            <a:avLst>
              <a:gd fmla="val 16667" name="adj"/>
            </a:avLst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6200">
                <a:latin typeface="Roboto Mono"/>
                <a:ea typeface="Roboto Mono"/>
                <a:cs typeface="Roboto Mono"/>
                <a:sym typeface="Roboto Mono"/>
              </a:rPr>
              <a:t>Using AI Compliantly</a:t>
            </a:r>
            <a:r>
              <a:rPr b="1" lang="en-US" sz="7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7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rPr b="1" lang="en-US" sz="4000">
                <a:latin typeface="Roboto Mono"/>
                <a:ea typeface="Roboto Mono"/>
                <a:cs typeface="Roboto Mono"/>
                <a:sym typeface="Roboto Mono"/>
              </a:rPr>
              <a:t>  Compliance and Risk Ops</a:t>
            </a:r>
            <a:endParaRPr b="1" sz="4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b="1" sz="4000"/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  <a:p>
            <a:pPr indent="0" lvl="0" marL="0" rtl="0" algn="l"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-US" sz="290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-US" sz="2900">
                <a:latin typeface="Roboto Mono"/>
                <a:ea typeface="Roboto Mono"/>
                <a:cs typeface="Roboto Mono"/>
                <a:sym typeface="Roboto Mono"/>
              </a:rPr>
              <a:t>2026</a:t>
            </a:r>
            <a:endParaRPr b="1" sz="2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234" name="Google Shape;234;p27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235" name="Google Shape;235;p27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5" name="Google Shape;245;p27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Everyday AI Expectations</a:t>
            </a:r>
            <a:endParaRPr/>
          </a:p>
        </p:txBody>
      </p:sp>
      <p:grpSp>
        <p:nvGrpSpPr>
          <p:cNvPr id="246" name="Google Shape;246;p27"/>
          <p:cNvGrpSpPr/>
          <p:nvPr/>
        </p:nvGrpSpPr>
        <p:grpSpPr>
          <a:xfrm>
            <a:off x="1328150" y="1508775"/>
            <a:ext cx="12715800" cy="2659761"/>
            <a:chOff x="0" y="0"/>
            <a:chExt cx="12715800" cy="2857500"/>
          </a:xfrm>
        </p:grpSpPr>
        <p:sp>
          <p:nvSpPr>
            <p:cNvPr id="247" name="Google Shape;247;p27"/>
            <p:cNvSpPr/>
            <p:nvPr/>
          </p:nvSpPr>
          <p:spPr>
            <a:xfrm>
              <a:off x="0" y="0"/>
              <a:ext cx="12715800" cy="2857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 txBox="1"/>
            <p:nvPr/>
          </p:nvSpPr>
          <p:spPr>
            <a:xfrm>
              <a:off x="381000" y="285750"/>
              <a:ext cx="11953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At Checkout, the internal use of AI tools is actively encouraged. Nearly </a:t>
              </a:r>
              <a:r>
                <a:rPr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ll employees are utili</a:t>
              </a:r>
              <a:r>
                <a:rPr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ing AI on a regular basis to accelerate workflows and compound learning. </a:t>
              </a:r>
              <a:r>
                <a:rPr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Checkout</a:t>
              </a: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 views AI as a </a:t>
              </a: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"powerful co-pilot"</a:t>
              </a: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 and an </a:t>
              </a: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"intelligent assistant"</a:t>
              </a: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 designed to enhance human potential rather than displace it.</a:t>
              </a:r>
              <a:endParaRPr b="0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Because Checkout operates in a highly regulated financial ecosystem, using external AI tools like Gemini requires balancing this innovation with strict security.</a:t>
              </a:r>
              <a:endParaRPr b="0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27"/>
          <p:cNvGrpSpPr/>
          <p:nvPr/>
        </p:nvGrpSpPr>
        <p:grpSpPr>
          <a:xfrm>
            <a:off x="1328075" y="4829175"/>
            <a:ext cx="12715950" cy="1714500"/>
            <a:chOff x="0" y="0"/>
            <a:chExt cx="12715950" cy="1714500"/>
          </a:xfrm>
        </p:grpSpPr>
        <p:grpSp>
          <p:nvGrpSpPr>
            <p:cNvPr id="250" name="Google Shape;250;p27"/>
            <p:cNvGrpSpPr/>
            <p:nvPr/>
          </p:nvGrpSpPr>
          <p:grpSpPr>
            <a:xfrm>
              <a:off x="0" y="0"/>
              <a:ext cx="4048200" cy="1714500"/>
              <a:chOff x="0" y="0"/>
              <a:chExt cx="4048200" cy="1714500"/>
            </a:xfrm>
          </p:grpSpPr>
          <p:sp>
            <p:nvSpPr>
              <p:cNvPr id="251" name="Google Shape;251;p27"/>
              <p:cNvSpPr/>
              <p:nvPr/>
            </p:nvSpPr>
            <p:spPr>
              <a:xfrm>
                <a:off x="0" y="0"/>
                <a:ext cx="4048200" cy="17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7"/>
              <p:cNvSpPr txBox="1"/>
              <p:nvPr/>
            </p:nvSpPr>
            <p:spPr>
              <a:xfrm>
                <a:off x="0" y="0"/>
                <a:ext cx="4048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4000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31323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Efficiency</a:t>
                </a:r>
                <a:endParaRPr b="1" sz="2000">
                  <a:solidFill>
                    <a:srgbClr val="31323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253" name="Google Shape;253;p27"/>
            <p:cNvGrpSpPr/>
            <p:nvPr/>
          </p:nvGrpSpPr>
          <p:grpSpPr>
            <a:xfrm>
              <a:off x="4333875" y="0"/>
              <a:ext cx="4048200" cy="1714500"/>
              <a:chOff x="0" y="0"/>
              <a:chExt cx="4048200" cy="1714500"/>
            </a:xfrm>
          </p:grpSpPr>
          <p:sp>
            <p:nvSpPr>
              <p:cNvPr id="254" name="Google Shape;254;p27"/>
              <p:cNvSpPr/>
              <p:nvPr/>
            </p:nvSpPr>
            <p:spPr>
              <a:xfrm>
                <a:off x="0" y="0"/>
                <a:ext cx="4048200" cy="17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7"/>
              <p:cNvSpPr txBox="1"/>
              <p:nvPr/>
            </p:nvSpPr>
            <p:spPr>
              <a:xfrm>
                <a:off x="0" y="0"/>
                <a:ext cx="4048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sz="4000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31323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Scalability</a:t>
                </a:r>
                <a:endParaRPr b="1" sz="2000">
                  <a:solidFill>
                    <a:srgbClr val="31323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256" name="Google Shape;256;p27"/>
            <p:cNvGrpSpPr/>
            <p:nvPr/>
          </p:nvGrpSpPr>
          <p:grpSpPr>
            <a:xfrm>
              <a:off x="8667750" y="0"/>
              <a:ext cx="4048200" cy="1714500"/>
              <a:chOff x="0" y="0"/>
              <a:chExt cx="4048200" cy="1714500"/>
            </a:xfrm>
          </p:grpSpPr>
          <p:sp>
            <p:nvSpPr>
              <p:cNvPr id="257" name="Google Shape;257;p27"/>
              <p:cNvSpPr/>
              <p:nvPr/>
            </p:nvSpPr>
            <p:spPr>
              <a:xfrm>
                <a:off x="0" y="0"/>
                <a:ext cx="4048200" cy="17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7"/>
              <p:cNvSpPr txBox="1"/>
              <p:nvPr/>
            </p:nvSpPr>
            <p:spPr>
              <a:xfrm>
                <a:off x="0" y="0"/>
                <a:ext cx="4048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lightbulb</a:t>
                </a:r>
                <a:endParaRPr sz="4000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31323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Ideation</a:t>
                </a:r>
                <a:endParaRPr b="1" sz="2000">
                  <a:solidFill>
                    <a:srgbClr val="31323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265" name="Google Shape;265;p28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266" name="Google Shape;266;p28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6" name="Google Shape;276;p28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Core AI Toolset</a:t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6583675" y="367851"/>
            <a:ext cx="7932000" cy="1376700"/>
          </a:xfrm>
          <a:prstGeom prst="roundRect">
            <a:avLst>
              <a:gd fmla="val 11885" name="adj"/>
            </a:avLst>
          </a:prstGeom>
          <a:solidFill>
            <a:srgbClr val="B3C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7344725" y="904072"/>
            <a:ext cx="69573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lang="en-US" sz="2000">
                <a:latin typeface="Inter"/>
                <a:ea typeface="Inter"/>
                <a:cs typeface="Inter"/>
                <a:sym typeface="Inter"/>
              </a:rPr>
              <a:t>Access Nova and search for “AI” to learn more about our AI tools. The AI Academy is a great place to start!</a:t>
            </a:r>
            <a:endParaRPr i="0" sz="13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279" name="Google Shape;2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7284" y="557519"/>
            <a:ext cx="333860" cy="21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/>
          <p:nvPr/>
        </p:nvSpPr>
        <p:spPr>
          <a:xfrm>
            <a:off x="7344742" y="537874"/>
            <a:ext cx="2884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 Mono"/>
              <a:buNone/>
            </a:pPr>
            <a:r>
              <a:rPr b="1" lang="en-US" sz="2000">
                <a:latin typeface="Inter"/>
                <a:ea typeface="Inter"/>
                <a:cs typeface="Inter"/>
                <a:sym typeface="Inter"/>
              </a:rPr>
              <a:t>Additional resources</a:t>
            </a:r>
            <a:endParaRPr i="0" sz="20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1326325" y="1938475"/>
            <a:ext cx="6140700" cy="52599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1799050" y="3420525"/>
            <a:ext cx="53220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Use: </a:t>
            </a: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Complex reasoning and unstructured data analysis.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Gemini to compare cross-border regulatory frameworks, translate foreign compliance documents, and structure initial investigative reports.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excels at breaking down complex, multi-layered documents into digestible summaries.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8040503" y="1938475"/>
            <a:ext cx="6140700" cy="52599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8449875" y="3420525"/>
            <a:ext cx="53220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Use: </a:t>
            </a: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Scripting and technical risk rules.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laude Code is integrated into our technical workflows.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it to assist in automating code reviews, generating Python scripts for bulk transaction analysis, and standardizing compliance rule logic before deployment to the checkout engine.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4669" y="1834717"/>
            <a:ext cx="3070506" cy="166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45852" y="1657928"/>
            <a:ext cx="3070500" cy="198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293" name="Google Shape;293;p29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294" name="Google Shape;294;p29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4" name="Google Shape;304;p29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Core AI Toolset</a:t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6583675" y="367851"/>
            <a:ext cx="7932000" cy="1376700"/>
          </a:xfrm>
          <a:prstGeom prst="roundRect">
            <a:avLst>
              <a:gd fmla="val 11885" name="adj"/>
            </a:avLst>
          </a:prstGeom>
          <a:solidFill>
            <a:srgbClr val="B3C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7344725" y="904072"/>
            <a:ext cx="69573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lang="en-US" sz="2000">
                <a:latin typeface="Inter"/>
                <a:ea typeface="Inter"/>
                <a:cs typeface="Inter"/>
                <a:sym typeface="Inter"/>
              </a:rPr>
              <a:t>Chat to the Operational Excellence Team to discuss any automation ideas you have.</a:t>
            </a:r>
            <a:endParaRPr i="0" sz="13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07" name="Google Shape;3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7284" y="557519"/>
            <a:ext cx="333860" cy="21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7344742" y="537874"/>
            <a:ext cx="2884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 Mono"/>
              <a:buNone/>
            </a:pPr>
            <a:r>
              <a:rPr b="1" lang="en-US" sz="2000">
                <a:latin typeface="Inter"/>
                <a:ea typeface="Inter"/>
                <a:cs typeface="Inter"/>
                <a:sym typeface="Inter"/>
              </a:rPr>
              <a:t>Additional resources</a:t>
            </a:r>
            <a:endParaRPr i="0" sz="20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1326325" y="1938475"/>
            <a:ext cx="6140700" cy="52599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8040503" y="1938475"/>
            <a:ext cx="6140700" cy="52599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1" name="Google Shape;31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32588" y="172966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1175" y="1856138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1799050" y="3420525"/>
            <a:ext cx="53220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Use: </a:t>
            </a: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Secure, isolated knowledge synthesis.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Upload massive, 100+ page regulatory PDFs, internal policy guides or Confluence pages into Notebook LM.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creates a closed-loop knowledge base, allowing you to quickly query specific jurisdictional rules and generate customized FAQs for the front-line teams.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8449875" y="3420525"/>
            <a:ext cx="53220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Use: </a:t>
            </a: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No-code workflow automation.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 disparate risk systems seamlessly.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Zapier to instantly route low-risk automated alerts to the appropriate regional compliance officer, create automated tracking tickets, and ensure no flagged transaction falls through the cracks.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321" name="Google Shape;321;p30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322" name="Google Shape;322;p30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2" name="Google Shape;332;p30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Protect Sensitive Data and PII</a:t>
            </a:r>
            <a:endParaRPr/>
          </a:p>
        </p:txBody>
      </p:sp>
      <p:grpSp>
        <p:nvGrpSpPr>
          <p:cNvPr id="333" name="Google Shape;333;p30"/>
          <p:cNvGrpSpPr/>
          <p:nvPr/>
        </p:nvGrpSpPr>
        <p:grpSpPr>
          <a:xfrm>
            <a:off x="1333500" y="1782100"/>
            <a:ext cx="12833139" cy="5195468"/>
            <a:chOff x="0" y="0"/>
            <a:chExt cx="11963400" cy="5562600"/>
          </a:xfrm>
        </p:grpSpPr>
        <p:sp>
          <p:nvSpPr>
            <p:cNvPr id="334" name="Google Shape;334;p30"/>
            <p:cNvSpPr/>
            <p:nvPr/>
          </p:nvSpPr>
          <p:spPr>
            <a:xfrm>
              <a:off x="0" y="0"/>
              <a:ext cx="11963400" cy="5562600"/>
            </a:xfrm>
            <a:prstGeom prst="roundRect">
              <a:avLst>
                <a:gd fmla="val 41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 txBox="1"/>
            <p:nvPr/>
          </p:nvSpPr>
          <p:spPr>
            <a:xfrm>
              <a:off x="381000" y="381000"/>
              <a:ext cx="112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NEVER input confidential company data, proprietary source code, or PII into public AI models.</a:t>
              </a:r>
              <a:endParaRPr b="1" sz="20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6" name="Google Shape;336;p30"/>
            <p:cNvGrpSpPr/>
            <p:nvPr/>
          </p:nvGrpSpPr>
          <p:grpSpPr>
            <a:xfrm>
              <a:off x="381000" y="1333500"/>
              <a:ext cx="11201400" cy="3619500"/>
              <a:chOff x="0" y="0"/>
              <a:chExt cx="11201400" cy="3619500"/>
            </a:xfrm>
          </p:grpSpPr>
          <p:grpSp>
            <p:nvGrpSpPr>
              <p:cNvPr id="337" name="Google Shape;337;p30"/>
              <p:cNvGrpSpPr/>
              <p:nvPr/>
            </p:nvGrpSpPr>
            <p:grpSpPr>
              <a:xfrm>
                <a:off x="0" y="0"/>
                <a:ext cx="5410200" cy="3619500"/>
                <a:chOff x="0" y="0"/>
                <a:chExt cx="5410200" cy="3619500"/>
              </a:xfrm>
            </p:grpSpPr>
            <p:sp>
              <p:nvSpPr>
                <p:cNvPr id="338" name="Google Shape;338;p30"/>
                <p:cNvSpPr/>
                <p:nvPr/>
              </p:nvSpPr>
              <p:spPr>
                <a:xfrm>
                  <a:off x="0" y="0"/>
                  <a:ext cx="5410200" cy="3619500"/>
                </a:xfrm>
                <a:prstGeom prst="roundRect">
                  <a:avLst>
                    <a:gd fmla="val 4210" name="adj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30"/>
                <p:cNvSpPr txBox="1"/>
                <p:nvPr/>
              </p:nvSpPr>
              <p:spPr>
                <a:xfrm>
                  <a:off x="285750" y="285750"/>
                  <a:ext cx="4838700" cy="30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31323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Regulated Data</a:t>
                  </a:r>
                  <a:endParaRPr b="1" sz="2000">
                    <a:solidFill>
                      <a:srgbClr val="31323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1125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Checkout handles highly sensitive technical, verification, cardholder, and transaction information.</a:t>
                  </a:r>
                  <a:endParaRPr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-355600" lvl="0" marL="457200" rtl="0" algn="l">
                    <a:spcBef>
                      <a:spcPts val="1500"/>
                    </a:spcBef>
                    <a:spcAft>
                      <a:spcPts val="0"/>
                    </a:spcAft>
                    <a:buClr>
                      <a:srgbClr val="64748B"/>
                    </a:buClr>
                    <a:buSzPts val="2000"/>
                    <a:buFont typeface="Inter"/>
                    <a:buChar char="●"/>
                  </a:pP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This m</a:t>
                  </a: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ust remain strictly controlled under GDPR and PCI-DSS frameworks.</a:t>
                  </a:r>
                  <a:endParaRPr sz="2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-355600" lvl="0" marL="457200" rtl="0" algn="l">
                    <a:spcBef>
                      <a:spcPts val="750"/>
                    </a:spcBef>
                    <a:spcAft>
                      <a:spcPts val="0"/>
                    </a:spcAft>
                    <a:buClr>
                      <a:srgbClr val="64748B"/>
                    </a:buClr>
                    <a:buSzPts val="2000"/>
                    <a:buFont typeface="Inter"/>
                    <a:buChar char="●"/>
                  </a:pP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Never paste sensitive data into generative AI prompts.</a:t>
                  </a:r>
                  <a:endParaRPr sz="2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40" name="Google Shape;340;p30"/>
              <p:cNvGrpSpPr/>
              <p:nvPr/>
            </p:nvGrpSpPr>
            <p:grpSpPr>
              <a:xfrm>
                <a:off x="5791200" y="0"/>
                <a:ext cx="5410200" cy="3619500"/>
                <a:chOff x="0" y="0"/>
                <a:chExt cx="5410200" cy="3619500"/>
              </a:xfrm>
            </p:grpSpPr>
            <p:sp>
              <p:nvSpPr>
                <p:cNvPr id="341" name="Google Shape;341;p30"/>
                <p:cNvSpPr/>
                <p:nvPr/>
              </p:nvSpPr>
              <p:spPr>
                <a:xfrm>
                  <a:off x="0" y="0"/>
                  <a:ext cx="5410200" cy="3619500"/>
                </a:xfrm>
                <a:prstGeom prst="roundRect">
                  <a:avLst>
                    <a:gd fmla="val 4210" name="adj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30"/>
                <p:cNvSpPr txBox="1"/>
                <p:nvPr/>
              </p:nvSpPr>
              <p:spPr>
                <a:xfrm>
                  <a:off x="285750" y="285750"/>
                  <a:ext cx="4838700" cy="30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31323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Corporate Secrets</a:t>
                  </a:r>
                  <a:endParaRPr b="1" sz="2000">
                    <a:solidFill>
                      <a:srgbClr val="31323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1125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Avoid feeding strategic or internal information into external chatbots.</a:t>
                  </a:r>
                  <a:endParaRPr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-355600" lvl="0" marL="457200" rtl="0" algn="l">
                    <a:spcBef>
                      <a:spcPts val="1500"/>
                    </a:spcBef>
                    <a:spcAft>
                      <a:spcPts val="0"/>
                    </a:spcAft>
                    <a:buClr>
                      <a:srgbClr val="64748B"/>
                    </a:buClr>
                    <a:buSzPts val="2000"/>
                    <a:buFont typeface="Inter"/>
                    <a:buChar char="●"/>
                  </a:pP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Unreleased product strategies</a:t>
                  </a:r>
                  <a:endParaRPr sz="2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-355600" lvl="0" marL="457200" rtl="0" algn="l">
                    <a:spcBef>
                      <a:spcPts val="750"/>
                    </a:spcBef>
                    <a:spcAft>
                      <a:spcPts val="0"/>
                    </a:spcAft>
                    <a:buClr>
                      <a:srgbClr val="64748B"/>
                    </a:buClr>
                    <a:buSzPts val="2000"/>
                    <a:buFont typeface="Inter"/>
                    <a:buChar char="●"/>
                  </a:pP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Internal financial metrics</a:t>
                  </a:r>
                  <a:endParaRPr sz="2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-355600" lvl="0" marL="457200" rtl="0" algn="l">
                    <a:spcBef>
                      <a:spcPts val="750"/>
                    </a:spcBef>
                    <a:spcAft>
                      <a:spcPts val="0"/>
                    </a:spcAft>
                    <a:buClr>
                      <a:srgbClr val="64748B"/>
                    </a:buClr>
                    <a:buSzPts val="2000"/>
                    <a:buFont typeface="Inter"/>
                    <a:buChar char="●"/>
                  </a:pPr>
                  <a:r>
                    <a:rPr lang="en-US" sz="2000">
                      <a:solidFill>
                        <a:srgbClr val="64748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Security protocols and infrastructure details</a:t>
                  </a:r>
                  <a:endParaRPr sz="2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343" name="Google Shape;343;p30"/>
          <p:cNvSpPr/>
          <p:nvPr/>
        </p:nvSpPr>
        <p:spPr>
          <a:xfrm>
            <a:off x="6583675" y="367850"/>
            <a:ext cx="7932000" cy="1635000"/>
          </a:xfrm>
          <a:prstGeom prst="roundRect">
            <a:avLst>
              <a:gd fmla="val 11885" name="adj"/>
            </a:avLst>
          </a:prstGeom>
          <a:solidFill>
            <a:srgbClr val="B3C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7344725" y="1004728"/>
            <a:ext cx="69573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lang="en-US" sz="2000">
                <a:latin typeface="Inter"/>
                <a:ea typeface="Inter"/>
                <a:cs typeface="Inter"/>
                <a:sym typeface="Inter"/>
              </a:rPr>
              <a:t>Any data that can be used, either on its own or in combination with other information. to identify, contact, or locate a specific individual.</a:t>
            </a:r>
            <a:endParaRPr i="0" sz="13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45" name="Google Shape;3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7284" y="557519"/>
            <a:ext cx="333860" cy="21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/>
          <p:nvPr/>
        </p:nvSpPr>
        <p:spPr>
          <a:xfrm>
            <a:off x="7344757" y="537875"/>
            <a:ext cx="5565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 Mono"/>
              <a:buNone/>
            </a:pPr>
            <a:r>
              <a:rPr b="1" lang="en-US" sz="2000">
                <a:latin typeface="Inter"/>
                <a:ea typeface="Inter"/>
                <a:cs typeface="Inter"/>
                <a:sym typeface="Inter"/>
              </a:rPr>
              <a:t>Personally Identifiable Information,</a:t>
            </a:r>
            <a:endParaRPr i="0" sz="2000" u="none" cap="none" strike="noStrike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354" name="Google Shape;354;p31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4" name="Google Shape;364;p31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Maintain Human Accountability</a:t>
            </a:r>
            <a:endParaRPr/>
          </a:p>
        </p:txBody>
      </p:sp>
      <p:grpSp>
        <p:nvGrpSpPr>
          <p:cNvPr id="365" name="Google Shape;365;p31"/>
          <p:cNvGrpSpPr/>
          <p:nvPr/>
        </p:nvGrpSpPr>
        <p:grpSpPr>
          <a:xfrm>
            <a:off x="1666875" y="1733550"/>
            <a:ext cx="5849464" cy="2258854"/>
            <a:chOff x="0" y="0"/>
            <a:chExt cx="4619700" cy="2857500"/>
          </a:xfrm>
        </p:grpSpPr>
        <p:sp>
          <p:nvSpPr>
            <p:cNvPr id="366" name="Google Shape;366;p31"/>
            <p:cNvSpPr/>
            <p:nvPr/>
          </p:nvSpPr>
          <p:spPr>
            <a:xfrm>
              <a:off x="0" y="0"/>
              <a:ext cx="46197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31"/>
            <p:cNvSpPr txBox="1"/>
            <p:nvPr/>
          </p:nvSpPr>
          <p:spPr>
            <a:xfrm>
              <a:off x="238125" y="238125"/>
              <a:ext cx="4143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Fact-Checking &amp; Verification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AI models can hallucinate. Always verify technical answers, legal interpretations, or data analysis against official Checkout documentation.</a:t>
              </a:r>
              <a:endParaRPr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31"/>
          <p:cNvGrpSpPr/>
          <p:nvPr/>
        </p:nvGrpSpPr>
        <p:grpSpPr>
          <a:xfrm>
            <a:off x="7757575" y="1733550"/>
            <a:ext cx="5849464" cy="2258854"/>
            <a:chOff x="0" y="0"/>
            <a:chExt cx="4619700" cy="2857500"/>
          </a:xfrm>
        </p:grpSpPr>
        <p:sp>
          <p:nvSpPr>
            <p:cNvPr id="369" name="Google Shape;369;p31"/>
            <p:cNvSpPr/>
            <p:nvPr/>
          </p:nvSpPr>
          <p:spPr>
            <a:xfrm>
              <a:off x="0" y="0"/>
              <a:ext cx="46197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0" name="Google Shape;370;p31"/>
            <p:cNvSpPr txBox="1"/>
            <p:nvPr/>
          </p:nvSpPr>
          <p:spPr>
            <a:xfrm>
              <a:off x="238125" y="238125"/>
              <a:ext cx="4143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Security Reviews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AI-assisted coding, ensure generated code passes standard peer review and security testing pipelines.</a:t>
              </a:r>
              <a:endParaRPr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1" name="Google Shape;371;p31"/>
          <p:cNvGrpSpPr/>
          <p:nvPr/>
        </p:nvGrpSpPr>
        <p:grpSpPr>
          <a:xfrm>
            <a:off x="1666875" y="4454975"/>
            <a:ext cx="5849464" cy="2258949"/>
            <a:chOff x="0" y="0"/>
            <a:chExt cx="4619700" cy="2095500"/>
          </a:xfrm>
        </p:grpSpPr>
        <p:sp>
          <p:nvSpPr>
            <p:cNvPr id="372" name="Google Shape;372;p31"/>
            <p:cNvSpPr/>
            <p:nvPr/>
          </p:nvSpPr>
          <p:spPr>
            <a:xfrm>
              <a:off x="0" y="0"/>
              <a:ext cx="4619700" cy="20955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31"/>
            <p:cNvSpPr txBox="1"/>
            <p:nvPr/>
          </p:nvSpPr>
          <p:spPr>
            <a:xfrm>
              <a:off x="238125" y="238125"/>
              <a:ext cx="41433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Decision Ownership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100% of automated risk flags, closures, or reports must have a clear path to human validation. Humans own the final decision.</a:t>
              </a:r>
              <a:endParaRPr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31"/>
          <p:cNvGrpSpPr/>
          <p:nvPr/>
        </p:nvGrpSpPr>
        <p:grpSpPr>
          <a:xfrm>
            <a:off x="7757575" y="4454975"/>
            <a:ext cx="5849464" cy="2258949"/>
            <a:chOff x="0" y="0"/>
            <a:chExt cx="4619700" cy="2095500"/>
          </a:xfrm>
        </p:grpSpPr>
        <p:sp>
          <p:nvSpPr>
            <p:cNvPr id="375" name="Google Shape;375;p31"/>
            <p:cNvSpPr/>
            <p:nvPr/>
          </p:nvSpPr>
          <p:spPr>
            <a:xfrm>
              <a:off x="0" y="0"/>
              <a:ext cx="4619700" cy="20955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31"/>
            <p:cNvSpPr txBox="1"/>
            <p:nvPr/>
          </p:nvSpPr>
          <p:spPr>
            <a:xfrm>
              <a:off x="238125" y="238125"/>
              <a:ext cx="41433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Judgment &amp; Accountability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Empathy, nuanced judgment, and regulatory accountability cannot be automated. You remain responsible for the final output.</a:t>
              </a:r>
              <a:endParaRPr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383" name="Google Shape;383;p32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384" name="Google Shape;384;p32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8" name="Google Shape;388;p32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94" name="Google Shape;394;p32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 Against Bias</a:t>
            </a:r>
            <a:endParaRPr/>
          </a:p>
        </p:txBody>
      </p:sp>
      <p:grpSp>
        <p:nvGrpSpPr>
          <p:cNvPr id="395" name="Google Shape;395;p32"/>
          <p:cNvGrpSpPr/>
          <p:nvPr/>
        </p:nvGrpSpPr>
        <p:grpSpPr>
          <a:xfrm>
            <a:off x="1714500" y="1592050"/>
            <a:ext cx="5791200" cy="2857500"/>
            <a:chOff x="0" y="0"/>
            <a:chExt cx="5791200" cy="2857500"/>
          </a:xfrm>
        </p:grpSpPr>
        <p:sp>
          <p:nvSpPr>
            <p:cNvPr id="396" name="Google Shape;396;p32"/>
            <p:cNvSpPr/>
            <p:nvPr/>
          </p:nvSpPr>
          <p:spPr>
            <a:xfrm>
              <a:off x="0" y="0"/>
              <a:ext cx="5791200" cy="28575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2"/>
            <p:cNvSpPr txBox="1"/>
            <p:nvPr/>
          </p:nvSpPr>
          <p:spPr>
            <a:xfrm>
              <a:off x="285750" y="285750"/>
              <a:ext cx="5219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Eliminating Unconscious Bias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Checkout actively leverages AI to eliminate unconscious biases in areas like talent acquisition, ensuring assessments focus on objective criteria.</a:t>
              </a:r>
              <a:endParaRPr b="0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8" name="Google Shape;398;p32"/>
          <p:cNvGrpSpPr/>
          <p:nvPr/>
        </p:nvGrpSpPr>
        <p:grpSpPr>
          <a:xfrm>
            <a:off x="7886700" y="1592050"/>
            <a:ext cx="5791200" cy="2857500"/>
            <a:chOff x="0" y="0"/>
            <a:chExt cx="5791200" cy="2857500"/>
          </a:xfrm>
        </p:grpSpPr>
        <p:sp>
          <p:nvSpPr>
            <p:cNvPr id="399" name="Google Shape;399;p32"/>
            <p:cNvSpPr/>
            <p:nvPr/>
          </p:nvSpPr>
          <p:spPr>
            <a:xfrm>
              <a:off x="0" y="0"/>
              <a:ext cx="5791200" cy="28575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2"/>
            <p:cNvSpPr txBox="1"/>
            <p:nvPr/>
          </p:nvSpPr>
          <p:spPr>
            <a:xfrm>
              <a:off x="285750" y="285750"/>
              <a:ext cx="5219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1323D"/>
                  </a:solidFill>
                  <a:latin typeface="Inter"/>
                  <a:ea typeface="Inter"/>
                  <a:cs typeface="Inter"/>
                  <a:sym typeface="Inter"/>
                </a:rPr>
                <a:t>Proactive Output Review</a:t>
              </a:r>
              <a:endParaRPr b="1" sz="2000">
                <a:solidFill>
                  <a:srgbClr val="3132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you use AI to analyze data, draft communications, or evaluate performance metrics, you must proactively review the outputs to ensure the AI has not inadvertently introduced or amplified biases.</a:t>
              </a:r>
              <a:endParaRPr b="0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1" name="Google Shape;401;p32"/>
          <p:cNvSpPr txBox="1"/>
          <p:nvPr/>
        </p:nvSpPr>
        <p:spPr>
          <a:xfrm>
            <a:off x="1714500" y="4904972"/>
            <a:ext cx="11963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solidFill>
                  <a:srgbClr val="4285F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balance</a:t>
            </a:r>
            <a:endParaRPr sz="6400">
              <a:solidFill>
                <a:srgbClr val="4285F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02" name="Google Shape;402;p32"/>
          <p:cNvSpPr txBox="1"/>
          <p:nvPr/>
        </p:nvSpPr>
        <p:spPr>
          <a:xfrm>
            <a:off x="1714500" y="6335500"/>
            <a:ext cx="1196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Ensuring Objective &amp; Fair Outcomes through Human Oversight</a:t>
            </a:r>
            <a:endParaRPr b="0" sz="20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09" name="Google Shape;409;p33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410" name="Google Shape;410;p33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20" name="Google Shape;420;p33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Approved Tools</a:t>
            </a:r>
            <a:endParaRPr/>
          </a:p>
        </p:txBody>
      </p:sp>
      <p:grpSp>
        <p:nvGrpSpPr>
          <p:cNvPr id="421" name="Google Shape;421;p33"/>
          <p:cNvGrpSpPr/>
          <p:nvPr/>
        </p:nvGrpSpPr>
        <p:grpSpPr>
          <a:xfrm>
            <a:off x="1666875" y="1714500"/>
            <a:ext cx="12267195" cy="5143500"/>
            <a:chOff x="0" y="0"/>
            <a:chExt cx="11296800" cy="5143500"/>
          </a:xfrm>
        </p:grpSpPr>
        <p:sp>
          <p:nvSpPr>
            <p:cNvPr id="422" name="Google Shape;422;p33"/>
            <p:cNvSpPr/>
            <p:nvPr/>
          </p:nvSpPr>
          <p:spPr>
            <a:xfrm>
              <a:off x="0" y="0"/>
              <a:ext cx="11296800" cy="5143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3"/>
            <p:cNvSpPr txBox="1"/>
            <p:nvPr/>
          </p:nvSpPr>
          <p:spPr>
            <a:xfrm>
              <a:off x="381000" y="381000"/>
              <a:ext cx="1053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Vetted AI Applications &amp; Enterprise Tiers</a:t>
              </a:r>
              <a:endParaRPr b="1" sz="2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24" name="Google Shape;424;p33"/>
            <p:cNvGrpSpPr/>
            <p:nvPr/>
          </p:nvGrpSpPr>
          <p:grpSpPr>
            <a:xfrm>
              <a:off x="381000" y="1524000"/>
              <a:ext cx="10534800" cy="3238500"/>
              <a:chOff x="0" y="0"/>
              <a:chExt cx="10534800" cy="3238500"/>
            </a:xfrm>
          </p:grpSpPr>
          <p:sp>
            <p:nvSpPr>
              <p:cNvPr id="425" name="Google Shape;425;p33"/>
              <p:cNvSpPr txBox="1"/>
              <p:nvPr/>
            </p:nvSpPr>
            <p:spPr>
              <a:xfrm>
                <a:off x="0" y="0"/>
                <a:ext cx="5715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Checkout continually trials different AI models to find the best fit for specific tasks.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Ensure you are using the specific AI applications or enterprise tiers that have been </a:t>
                </a: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formally vetted and approved</a:t>
                </a: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by our IT and Security departments.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Enterprise versions typically have stricter data privacy agreements that prevent your inputs from being used to train public models.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426" name="Google Shape;426;p33"/>
              <p:cNvGrpSpPr/>
              <p:nvPr/>
            </p:nvGrpSpPr>
            <p:grpSpPr>
              <a:xfrm>
                <a:off x="6096000" y="0"/>
                <a:ext cx="4438800" cy="3238500"/>
                <a:chOff x="0" y="0"/>
                <a:chExt cx="4438800" cy="3238500"/>
              </a:xfrm>
            </p:grpSpPr>
            <p:sp>
              <p:nvSpPr>
                <p:cNvPr id="427" name="Google Shape;427;p33"/>
                <p:cNvSpPr/>
                <p:nvPr/>
              </p:nvSpPr>
              <p:spPr>
                <a:xfrm>
                  <a:off x="0" y="0"/>
                  <a:ext cx="4438800" cy="3238500"/>
                </a:xfrm>
                <a:prstGeom prst="roundRect">
                  <a:avLst>
                    <a:gd fmla="val 470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33"/>
                <p:cNvSpPr txBox="1"/>
                <p:nvPr/>
              </p:nvSpPr>
              <p:spPr>
                <a:xfrm>
                  <a:off x="285750" y="355854"/>
                  <a:ext cx="38673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4800">
                      <a:solidFill>
                        <a:srgbClr val="4285F4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help_outline</a:t>
                  </a:r>
                  <a:endParaRPr sz="4800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429" name="Google Shape;429;p33"/>
                <p:cNvSpPr txBox="1"/>
                <p:nvPr/>
              </p:nvSpPr>
              <p:spPr>
                <a:xfrm>
                  <a:off x="285750" y="1143000"/>
                  <a:ext cx="3867300" cy="18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2000">
                      <a:solidFill>
                        <a:srgbClr val="1E293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Have you checked out Confluence or the IT portal for the official list of approved AI models?</a:t>
                  </a:r>
                  <a:endParaRPr b="0" sz="20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36" name="Google Shape;436;p34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437" name="Google Shape;437;p34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7" name="Google Shape;447;p34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Real Life Lesson</a:t>
            </a:r>
            <a:endParaRPr/>
          </a:p>
        </p:txBody>
      </p:sp>
      <p:pic>
        <p:nvPicPr>
          <p:cNvPr id="448" name="Google Shape;4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8700" y="0"/>
            <a:ext cx="3067050" cy="148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34"/>
          <p:cNvGrpSpPr/>
          <p:nvPr/>
        </p:nvGrpSpPr>
        <p:grpSpPr>
          <a:xfrm>
            <a:off x="1496775" y="1749450"/>
            <a:ext cx="6172200" cy="2476500"/>
            <a:chOff x="0" y="0"/>
            <a:chExt cx="6172200" cy="2476500"/>
          </a:xfrm>
        </p:grpSpPr>
        <p:sp>
          <p:nvSpPr>
            <p:cNvPr id="450" name="Google Shape;450;p34"/>
            <p:cNvSpPr/>
            <p:nvPr/>
          </p:nvSpPr>
          <p:spPr>
            <a:xfrm>
              <a:off x="0" y="0"/>
              <a:ext cx="6172200" cy="24765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1" name="Google Shape;451;p34"/>
            <p:cNvGrpSpPr/>
            <p:nvPr/>
          </p:nvGrpSpPr>
          <p:grpSpPr>
            <a:xfrm>
              <a:off x="285750" y="332486"/>
              <a:ext cx="5600700" cy="1858264"/>
              <a:chOff x="0" y="46736"/>
              <a:chExt cx="5600700" cy="1858264"/>
            </a:xfrm>
          </p:grpSpPr>
          <p:sp>
            <p:nvSpPr>
              <p:cNvPr id="452" name="Google Shape;452;p34"/>
              <p:cNvSpPr txBox="1"/>
              <p:nvPr/>
            </p:nvSpPr>
            <p:spPr>
              <a:xfrm>
                <a:off x="0" y="46736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960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3" name="Google Shape;453;p34"/>
              <p:cNvSpPr txBox="1"/>
              <p:nvPr/>
            </p:nvSpPr>
            <p:spPr>
              <a:xfrm>
                <a:off x="0" y="571500"/>
                <a:ext cx="56007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The Bold Bet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Klarna initially replaced 700 customer service agents with an AI system to cut operational costs and handle volume.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54" name="Google Shape;454;p34"/>
          <p:cNvGrpSpPr/>
          <p:nvPr/>
        </p:nvGrpSpPr>
        <p:grpSpPr>
          <a:xfrm>
            <a:off x="8049975" y="1749450"/>
            <a:ext cx="6172200" cy="2476500"/>
            <a:chOff x="0" y="0"/>
            <a:chExt cx="6172200" cy="2476500"/>
          </a:xfrm>
        </p:grpSpPr>
        <p:sp>
          <p:nvSpPr>
            <p:cNvPr id="455" name="Google Shape;455;p34"/>
            <p:cNvSpPr/>
            <p:nvPr/>
          </p:nvSpPr>
          <p:spPr>
            <a:xfrm>
              <a:off x="0" y="0"/>
              <a:ext cx="6172200" cy="24765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6" name="Google Shape;456;p34"/>
            <p:cNvGrpSpPr/>
            <p:nvPr/>
          </p:nvGrpSpPr>
          <p:grpSpPr>
            <a:xfrm>
              <a:off x="285750" y="332486"/>
              <a:ext cx="5600700" cy="1858264"/>
              <a:chOff x="0" y="46736"/>
              <a:chExt cx="5600700" cy="1858264"/>
            </a:xfrm>
          </p:grpSpPr>
          <p:sp>
            <p:nvSpPr>
              <p:cNvPr id="457" name="Google Shape;457;p34"/>
              <p:cNvSpPr txBox="1"/>
              <p:nvPr/>
            </p:nvSpPr>
            <p:spPr>
              <a:xfrm>
                <a:off x="0" y="46736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priority_high</a:t>
                </a:r>
                <a:endParaRPr sz="296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8" name="Google Shape;458;p34"/>
              <p:cNvSpPr txBox="1"/>
              <p:nvPr/>
            </p:nvSpPr>
            <p:spPr>
              <a:xfrm>
                <a:off x="0" y="571500"/>
                <a:ext cx="56007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The Friction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While response times on routine tasks improved, customer satisfaction plummeted on complex billing and fraud disputes.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59" name="Google Shape;459;p34"/>
          <p:cNvGrpSpPr/>
          <p:nvPr/>
        </p:nvGrpSpPr>
        <p:grpSpPr>
          <a:xfrm>
            <a:off x="1496775" y="4606950"/>
            <a:ext cx="6172200" cy="2476500"/>
            <a:chOff x="0" y="0"/>
            <a:chExt cx="6172200" cy="2476500"/>
          </a:xfrm>
        </p:grpSpPr>
        <p:sp>
          <p:nvSpPr>
            <p:cNvPr id="460" name="Google Shape;460;p34"/>
            <p:cNvSpPr/>
            <p:nvPr/>
          </p:nvSpPr>
          <p:spPr>
            <a:xfrm>
              <a:off x="0" y="0"/>
              <a:ext cx="6172200" cy="24765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1" name="Google Shape;461;p34"/>
            <p:cNvGrpSpPr/>
            <p:nvPr/>
          </p:nvGrpSpPr>
          <p:grpSpPr>
            <a:xfrm>
              <a:off x="285750" y="332486"/>
              <a:ext cx="5600700" cy="1858264"/>
              <a:chOff x="0" y="46736"/>
              <a:chExt cx="5600700" cy="1858264"/>
            </a:xfrm>
          </p:grpSpPr>
          <p:sp>
            <p:nvSpPr>
              <p:cNvPr id="462" name="Google Shape;462;p34"/>
              <p:cNvSpPr txBox="1"/>
              <p:nvPr/>
            </p:nvSpPr>
            <p:spPr>
              <a:xfrm>
                <a:off x="0" y="46736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sentiment_very_dissatisfied</a:t>
                </a:r>
                <a:endParaRPr sz="296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63" name="Google Shape;463;p34"/>
              <p:cNvSpPr txBox="1"/>
              <p:nvPr/>
            </p:nvSpPr>
            <p:spPr>
              <a:xfrm>
                <a:off x="0" y="571500"/>
                <a:ext cx="56007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The Empathy Gap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AI lacked empathy and failed at edge cases, trapping distressed users in frustrating resolution loops.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64" name="Google Shape;464;p34"/>
          <p:cNvGrpSpPr/>
          <p:nvPr/>
        </p:nvGrpSpPr>
        <p:grpSpPr>
          <a:xfrm>
            <a:off x="8049975" y="4606950"/>
            <a:ext cx="6172200" cy="2476500"/>
            <a:chOff x="0" y="0"/>
            <a:chExt cx="6172200" cy="2476500"/>
          </a:xfrm>
        </p:grpSpPr>
        <p:sp>
          <p:nvSpPr>
            <p:cNvPr id="465" name="Google Shape;465;p34"/>
            <p:cNvSpPr/>
            <p:nvPr/>
          </p:nvSpPr>
          <p:spPr>
            <a:xfrm>
              <a:off x="0" y="0"/>
              <a:ext cx="6172200" cy="2476500"/>
            </a:xfrm>
            <a:prstGeom prst="roundRect">
              <a:avLst>
                <a:gd fmla="val 7692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6" name="Google Shape;466;p34"/>
            <p:cNvGrpSpPr/>
            <p:nvPr/>
          </p:nvGrpSpPr>
          <p:grpSpPr>
            <a:xfrm>
              <a:off x="285750" y="332486"/>
              <a:ext cx="5600700" cy="1858264"/>
              <a:chOff x="0" y="46736"/>
              <a:chExt cx="5600700" cy="1858264"/>
            </a:xfrm>
          </p:grpSpPr>
          <p:sp>
            <p:nvSpPr>
              <p:cNvPr id="467" name="Google Shape;467;p34"/>
              <p:cNvSpPr txBox="1"/>
              <p:nvPr/>
            </p:nvSpPr>
            <p:spPr>
              <a:xfrm>
                <a:off x="0" y="46736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loop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68" name="Google Shape;468;p34"/>
              <p:cNvSpPr txBox="1"/>
              <p:nvPr/>
            </p:nvSpPr>
            <p:spPr>
              <a:xfrm>
                <a:off x="0" y="571500"/>
                <a:ext cx="56007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The Reversal</a:t>
                </a:r>
                <a:endParaRPr b="1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E0E7FF"/>
                    </a:solidFill>
                    <a:latin typeface="Inter"/>
                    <a:ea typeface="Inter"/>
                    <a:cs typeface="Inter"/>
                    <a:sym typeface="Inter"/>
                  </a:rPr>
                  <a:t>Klarna pivoted to a hybrid model: AI for efficiency, and highly trained humans for empathy and complex problem-solving.</a:t>
                </a:r>
                <a:endParaRPr b="0" sz="2000">
                  <a:solidFill>
                    <a:srgbClr val="E0E7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"/>
          <p:cNvSpPr/>
          <p:nvPr/>
        </p:nvSpPr>
        <p:spPr>
          <a:xfrm>
            <a:off x="315000" y="0"/>
            <a:ext cx="564600" cy="8229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75" name="Google Shape;475;p35"/>
          <p:cNvGrpSpPr/>
          <p:nvPr/>
        </p:nvGrpSpPr>
        <p:grpSpPr>
          <a:xfrm>
            <a:off x="12025005" y="7347002"/>
            <a:ext cx="2543605" cy="731450"/>
            <a:chOff x="10435788" y="6862455"/>
            <a:chExt cx="4194600" cy="1206217"/>
          </a:xfrm>
        </p:grpSpPr>
        <p:sp>
          <p:nvSpPr>
            <p:cNvPr id="476" name="Google Shape;476;p35"/>
            <p:cNvSpPr txBox="1"/>
            <p:nvPr/>
          </p:nvSpPr>
          <p:spPr>
            <a:xfrm>
              <a:off x="10435788" y="7987971"/>
              <a:ext cx="4194600" cy="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e a r n i n g,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 s i g h t s  &amp;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 u n d a t i o n a l  </a:t>
              </a:r>
              <a:r>
                <a:rPr b="1"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 </a:t>
              </a:r>
              <a:r>
                <a:rPr lang="en-US" sz="400">
                  <a:solidFill>
                    <a:srgbClr val="4285F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 a i n i n g</a:t>
              </a:r>
              <a:endParaRPr sz="400">
                <a:solidFill>
                  <a:srgbClr val="4285F4"/>
                </a:solidFill>
              </a:endParaRPr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10517011" y="7841746"/>
              <a:ext cx="4016100" cy="35100"/>
            </a:xfrm>
            <a:prstGeom prst="rect">
              <a:avLst/>
            </a:prstGeom>
            <a:solidFill>
              <a:srgbClr val="186AFF"/>
            </a:solidFill>
            <a:ln cap="flat" cmpd="sng" w="2450">
              <a:solidFill>
                <a:srgbClr val="186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50" lIns="23550" spcFirstLastPara="1" rIns="23550" wrap="square" tIns="23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">
                <a:solidFill>
                  <a:srgbClr val="186A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10718355" y="6977084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10729539" y="7572259"/>
              <a:ext cx="402300" cy="9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12651563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14002939" y="6976991"/>
              <a:ext cx="138600" cy="690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13778508" y="6977084"/>
              <a:ext cx="6216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12651563" y="6977084"/>
              <a:ext cx="5160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12651563" y="7262297"/>
              <a:ext cx="472800" cy="1200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11681871" y="6862455"/>
              <a:ext cx="438600" cy="804600"/>
            </a:xfrm>
            <a:prstGeom prst="upArrow">
              <a:avLst>
                <a:gd fmla="val 29736" name="adj1"/>
                <a:gd fmla="val 87648" name="adj2"/>
              </a:avLst>
            </a:prstGeom>
            <a:solidFill>
              <a:srgbClr val="4285F4"/>
            </a:solidFill>
            <a:ln cap="flat" cmpd="sng" w="3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450" lIns="31450" spcFirstLastPara="1" rIns="31450" wrap="square" tIns="3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6" name="Google Shape;486;p35"/>
          <p:cNvSpPr txBox="1"/>
          <p:nvPr>
            <p:ph type="title"/>
          </p:nvPr>
        </p:nvSpPr>
        <p:spPr>
          <a:xfrm>
            <a:off x="953520" y="383600"/>
            <a:ext cx="4751100" cy="634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Lessons</a:t>
            </a:r>
            <a:endParaRPr/>
          </a:p>
        </p:txBody>
      </p:sp>
      <p:grpSp>
        <p:nvGrpSpPr>
          <p:cNvPr id="487" name="Google Shape;487;p35"/>
          <p:cNvGrpSpPr/>
          <p:nvPr/>
        </p:nvGrpSpPr>
        <p:grpSpPr>
          <a:xfrm>
            <a:off x="952500" y="1219200"/>
            <a:ext cx="6426403" cy="2796027"/>
            <a:chOff x="0" y="0"/>
            <a:chExt cx="6096000" cy="2190900"/>
          </a:xfrm>
        </p:grpSpPr>
        <p:sp>
          <p:nvSpPr>
            <p:cNvPr id="488" name="Google Shape;488;p35"/>
            <p:cNvSpPr/>
            <p:nvPr/>
          </p:nvSpPr>
          <p:spPr>
            <a:xfrm>
              <a:off x="0" y="0"/>
              <a:ext cx="6096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0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35"/>
            <p:cNvGrpSpPr/>
            <p:nvPr/>
          </p:nvGrpSpPr>
          <p:grpSpPr>
            <a:xfrm>
              <a:off x="285750" y="326644"/>
              <a:ext cx="5524500" cy="1864256"/>
              <a:chOff x="0" y="40894"/>
              <a:chExt cx="5524500" cy="1864256"/>
            </a:xfrm>
          </p:grpSpPr>
          <p:sp>
            <p:nvSpPr>
              <p:cNvPr id="490" name="Google Shape;490;p35"/>
              <p:cNvSpPr txBox="1"/>
              <p:nvPr/>
            </p:nvSpPr>
            <p:spPr>
              <a:xfrm>
                <a:off x="0" y="4089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509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</a:t>
                </a:r>
                <a:endParaRPr sz="2509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91" name="Google Shape;491;p35"/>
              <p:cNvSpPr txBox="1"/>
              <p:nvPr/>
            </p:nvSpPr>
            <p:spPr>
              <a:xfrm>
                <a:off x="0" y="476250"/>
                <a:ext cx="552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 the Routine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49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We actively encourage using AI for initial data gathering, standard tracking, and routine risk triaging. Let the machine do the heavy lifting on structured data.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2" name="Google Shape;492;p35"/>
          <p:cNvGrpSpPr/>
          <p:nvPr/>
        </p:nvGrpSpPr>
        <p:grpSpPr>
          <a:xfrm>
            <a:off x="7941173" y="1219200"/>
            <a:ext cx="6426403" cy="2796027"/>
            <a:chOff x="0" y="0"/>
            <a:chExt cx="6096000" cy="2190900"/>
          </a:xfrm>
        </p:grpSpPr>
        <p:sp>
          <p:nvSpPr>
            <p:cNvPr id="493" name="Google Shape;493;p35"/>
            <p:cNvSpPr/>
            <p:nvPr/>
          </p:nvSpPr>
          <p:spPr>
            <a:xfrm>
              <a:off x="0" y="0"/>
              <a:ext cx="6096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0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4" name="Google Shape;494;p35"/>
            <p:cNvGrpSpPr/>
            <p:nvPr/>
          </p:nvGrpSpPr>
          <p:grpSpPr>
            <a:xfrm>
              <a:off x="285750" y="326644"/>
              <a:ext cx="5524500" cy="1864256"/>
              <a:chOff x="0" y="40894"/>
              <a:chExt cx="5524500" cy="1864256"/>
            </a:xfrm>
          </p:grpSpPr>
          <p:sp>
            <p:nvSpPr>
              <p:cNvPr id="495" name="Google Shape;495;p35"/>
              <p:cNvSpPr txBox="1"/>
              <p:nvPr/>
            </p:nvSpPr>
            <p:spPr>
              <a:xfrm>
                <a:off x="0" y="4089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509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priority_high</a:t>
                </a:r>
                <a:endParaRPr sz="2509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96" name="Google Shape;496;p35"/>
              <p:cNvSpPr txBox="1"/>
              <p:nvPr/>
            </p:nvSpPr>
            <p:spPr>
              <a:xfrm>
                <a:off x="0" y="476250"/>
                <a:ext cx="552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Escalate the Complex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49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Always ensure a seamless escalation path. Multi-step disputes, fraud investigations, or policy exceptions must be routed to a human analyst immediately.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7" name="Google Shape;497;p35"/>
          <p:cNvGrpSpPr/>
          <p:nvPr/>
        </p:nvGrpSpPr>
        <p:grpSpPr>
          <a:xfrm>
            <a:off x="952500" y="4379840"/>
            <a:ext cx="6426403" cy="2796027"/>
            <a:chOff x="0" y="0"/>
            <a:chExt cx="6096000" cy="2190900"/>
          </a:xfrm>
        </p:grpSpPr>
        <p:sp>
          <p:nvSpPr>
            <p:cNvPr id="498" name="Google Shape;498;p35"/>
            <p:cNvSpPr/>
            <p:nvPr/>
          </p:nvSpPr>
          <p:spPr>
            <a:xfrm>
              <a:off x="0" y="0"/>
              <a:ext cx="6096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0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9" name="Google Shape;499;p35"/>
            <p:cNvGrpSpPr/>
            <p:nvPr/>
          </p:nvGrpSpPr>
          <p:grpSpPr>
            <a:xfrm>
              <a:off x="285750" y="326644"/>
              <a:ext cx="5524500" cy="1864256"/>
              <a:chOff x="0" y="40894"/>
              <a:chExt cx="5524500" cy="1864256"/>
            </a:xfrm>
          </p:grpSpPr>
          <p:sp>
            <p:nvSpPr>
              <p:cNvPr id="500" name="Google Shape;500;p35"/>
              <p:cNvSpPr txBox="1"/>
              <p:nvPr/>
            </p:nvSpPr>
            <p:spPr>
              <a:xfrm>
                <a:off x="0" y="4089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509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favorite</a:t>
                </a:r>
                <a:endParaRPr sz="2509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01" name="Google Shape;501;p35"/>
              <p:cNvSpPr txBox="1"/>
              <p:nvPr/>
            </p:nvSpPr>
            <p:spPr>
              <a:xfrm>
                <a:off x="0" y="476250"/>
                <a:ext cx="552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Empathy is Key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49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Situations involving distressed customers, significant financial loss, or sensitive regulatory implications require a human touch to maintain trust and brand reputation.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02" name="Google Shape;502;p35"/>
          <p:cNvGrpSpPr/>
          <p:nvPr/>
        </p:nvGrpSpPr>
        <p:grpSpPr>
          <a:xfrm>
            <a:off x="7941173" y="4379840"/>
            <a:ext cx="6426403" cy="2796027"/>
            <a:chOff x="0" y="0"/>
            <a:chExt cx="6096000" cy="2190900"/>
          </a:xfrm>
        </p:grpSpPr>
        <p:sp>
          <p:nvSpPr>
            <p:cNvPr id="503" name="Google Shape;503;p35"/>
            <p:cNvSpPr/>
            <p:nvPr/>
          </p:nvSpPr>
          <p:spPr>
            <a:xfrm>
              <a:off x="0" y="0"/>
              <a:ext cx="6096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0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4" name="Google Shape;504;p35"/>
            <p:cNvGrpSpPr/>
            <p:nvPr/>
          </p:nvGrpSpPr>
          <p:grpSpPr>
            <a:xfrm>
              <a:off x="285750" y="326644"/>
              <a:ext cx="5524500" cy="1864256"/>
              <a:chOff x="0" y="40894"/>
              <a:chExt cx="5524500" cy="1864256"/>
            </a:xfrm>
          </p:grpSpPr>
          <p:sp>
            <p:nvSpPr>
              <p:cNvPr id="505" name="Google Shape;505;p35"/>
              <p:cNvSpPr txBox="1"/>
              <p:nvPr/>
            </p:nvSpPr>
            <p:spPr>
              <a:xfrm>
                <a:off x="0" y="4089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509">
                    <a:solidFill>
                      <a:srgbClr val="4285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 sz="2509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06" name="Google Shape;506;p35"/>
              <p:cNvSpPr txBox="1"/>
              <p:nvPr/>
            </p:nvSpPr>
            <p:spPr>
              <a:xfrm>
                <a:off x="0" y="476250"/>
                <a:ext cx="552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Monitor the Outputs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49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Continuous oversight is your responsibility. Always validate AI-generated summaries to prevent algorithmic bias, "hallucinations," and ensure strict alignment with our risk appetite.</a:t>
                </a:r>
                <a:endParaRPr b="0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ft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ift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